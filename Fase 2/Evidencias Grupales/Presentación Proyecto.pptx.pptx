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DM Sans Bold" charset="1" panose="00000000000000000000"/>
      <p:regular r:id="rId16"/>
    </p:embeddedFont>
    <p:embeddedFont>
      <p:font typeface="DM Sans" charset="1" panose="00000000000000000000"/>
      <p:regular r:id="rId17"/>
    </p:embeddedFont>
    <p:embeddedFont>
      <p:font typeface="DM Sans Italics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 Antes se guardaba el puntaje/votos duplicados en la tabla y se desincronizaban; ahora el score se calcula en tiempo real desde los votos (decisión D2).</a:t>
            </a:r>
          </a:p>
          <a:p>
            <a:r>
              <a:rPr lang="en-US"/>
              <a:t/>
            </a:r>
          </a:p>
          <a:p>
            <a:r>
              <a:rPr lang="en-US"/>
              <a:t>2. El rol extra y los campos repetidos complicaban el modelo; se simplificó consolidando roles en profiles (decisión D6).</a:t>
            </a:r>
          </a:p>
          <a:p>
            <a:r>
              <a:rPr lang="en-US"/>
              <a:t/>
            </a:r>
          </a:p>
          <a:p>
            <a:r>
              <a:rPr lang="en-US"/>
              <a:t>3. security definer saltaba las políticas y producía un bug de votos; las acciones de usuario ahora respetan RLS.</a:t>
            </a:r>
          </a:p>
          <a:p>
            <a:r>
              <a:rPr lang="en-US"/>
              <a:t/>
            </a:r>
          </a:p>
          <a:p>
            <a:r>
              <a:rPr lang="en-US"/>
              <a:t>4. La ruta propia permite compartir enlaces directos a cada incidente y mejora la navegación en móvil.</a:t>
            </a:r>
          </a:p>
          <a:p>
            <a:r>
              <a:rPr lang="en-US"/>
              <a:t/>
            </a:r>
          </a:p>
          <a:p>
            <a:r>
              <a:rPr lang="en-US"/>
              <a:t>5. Tokens + Inter y sidebar "abordable" mantienen la funcionalidad intacta mientras se adapta el look (Sprint 4).</a:t>
            </a:r>
          </a:p>
          <a:p>
            <a:r>
              <a:rPr lang="en-US"/>
              <a:t/>
            </a:r>
          </a:p>
          <a:p>
            <a:r>
              <a:rPr lang="en-US"/>
              <a:t>6. La planificación de los 4 sprints vive en GitHub Projects y no en documentos sueltos.</a:t>
            </a:r>
          </a:p>
          <a:p>
            <a:r>
              <a:rPr lang="en-US"/>
              <a:t/>
            </a:r>
          </a:p>
          <a:p>
            <a:r>
              <a:rPr lang="en-US"/>
              <a:t>7. PostgREST no exponía el esquema bi, por eso se sumaron vistas espejo en public y el rol de solo lectura para exportar con seguridad.</a:t>
            </a:r>
          </a:p>
          <a:p>
            <a:r>
              <a:rPr lang="en-US"/>
              <a:t/>
            </a:r>
          </a:p>
          <a:p>
            <a:r>
              <a:rPr lang="en-US"/>
              <a:t>8. Se capturó región/provincia/comuna/barrio (reverse-geocoding) y hora/día/mes/semana en America/Santiago para analizar por ubicación y zona horaria.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https://movimap-duoc.netlify.app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F6F0E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7144647"/>
            <a:ext cx="1378241" cy="0"/>
          </a:xfrm>
          <a:prstGeom prst="line">
            <a:avLst/>
          </a:prstGeom>
          <a:ln cap="flat" w="114300">
            <a:solidFill>
              <a:srgbClr val="6599A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3261815"/>
            <a:ext cx="14985052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b="true" sz="12000" spc="-480">
                <a:solidFill>
                  <a:srgbClr val="001F23"/>
                </a:solidFill>
                <a:latin typeface="DM Sans Bold"/>
                <a:ea typeface="DM Sans Bold"/>
                <a:cs typeface="DM Sans Bold"/>
                <a:sym typeface="DM Sans Bold"/>
              </a:rPr>
              <a:t>MOVIMAP - FASE 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311168"/>
            <a:ext cx="12814197" cy="111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5"/>
              </a:lnSpc>
            </a:pPr>
            <a:r>
              <a:rPr lang="en-US" sz="3260" spc="-65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Diseño e implementación de una plataforma web colaborativa para el reporte y visualización de incidencias de accesibilidad.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476757"/>
            <a:ext cx="10246367" cy="2429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3666" indent="-221833" lvl="1">
              <a:lnSpc>
                <a:spcPts val="3287"/>
              </a:lnSpc>
              <a:buFont typeface="Arial"/>
              <a:buChar char="•"/>
            </a:pPr>
            <a:r>
              <a:rPr lang="en-US" b="true" sz="2054">
                <a:solidFill>
                  <a:srgbClr val="00363C"/>
                </a:solidFill>
                <a:latin typeface="DM Sans Bold"/>
                <a:ea typeface="DM Sans Bold"/>
                <a:cs typeface="DM Sans Bold"/>
                <a:sym typeface="DM Sans Bold"/>
              </a:rPr>
              <a:t>J</a:t>
            </a:r>
            <a:r>
              <a:rPr lang="en-US" b="true" sz="2054">
                <a:solidFill>
                  <a:srgbClr val="00363C"/>
                </a:solidFill>
                <a:latin typeface="DM Sans Bold"/>
                <a:ea typeface="DM Sans Bold"/>
                <a:cs typeface="DM Sans Bold"/>
                <a:sym typeface="DM Sans Bold"/>
              </a:rPr>
              <a:t>uan Candia</a:t>
            </a:r>
          </a:p>
          <a:p>
            <a:pPr algn="l" marL="443666" indent="-221833" lvl="1">
              <a:lnSpc>
                <a:spcPts val="3287"/>
              </a:lnSpc>
              <a:buFont typeface="Arial"/>
              <a:buChar char="•"/>
            </a:pPr>
            <a:r>
              <a:rPr lang="en-US" b="true" sz="2054">
                <a:solidFill>
                  <a:srgbClr val="00363C"/>
                </a:solidFill>
                <a:latin typeface="DM Sans Bold"/>
                <a:ea typeface="DM Sans Bold"/>
                <a:cs typeface="DM Sans Bold"/>
                <a:sym typeface="DM Sans Bold"/>
              </a:rPr>
              <a:t>Belén Díaz</a:t>
            </a:r>
          </a:p>
          <a:p>
            <a:pPr algn="l" marL="443666" indent="-221833" lvl="1">
              <a:lnSpc>
                <a:spcPts val="3287"/>
              </a:lnSpc>
              <a:buFont typeface="Arial"/>
              <a:buChar char="•"/>
            </a:pPr>
            <a:r>
              <a:rPr lang="en-US" b="true" sz="2054">
                <a:solidFill>
                  <a:srgbClr val="00363C"/>
                </a:solidFill>
                <a:latin typeface="DM Sans Bold"/>
                <a:ea typeface="DM Sans Bold"/>
                <a:cs typeface="DM Sans Bold"/>
                <a:sym typeface="DM Sans Bold"/>
              </a:rPr>
              <a:t>Carlos Espinoza</a:t>
            </a:r>
          </a:p>
          <a:p>
            <a:pPr algn="l" marL="443666" indent="-221833" lvl="1">
              <a:lnSpc>
                <a:spcPts val="3287"/>
              </a:lnSpc>
              <a:buFont typeface="Arial"/>
              <a:buChar char="•"/>
            </a:pPr>
            <a:r>
              <a:rPr lang="en-US" b="true" sz="2054">
                <a:solidFill>
                  <a:srgbClr val="00363C"/>
                </a:solidFill>
                <a:latin typeface="DM Sans Bold"/>
                <a:ea typeface="DM Sans Bold"/>
                <a:cs typeface="DM Sans Bold"/>
                <a:sym typeface="DM Sans Bold"/>
              </a:rPr>
              <a:t>Profesor: Aldo Martinez</a:t>
            </a:r>
          </a:p>
          <a:p>
            <a:pPr algn="l" marL="443666" indent="-221833" lvl="1">
              <a:lnSpc>
                <a:spcPts val="3287"/>
              </a:lnSpc>
              <a:buFont typeface="Arial"/>
              <a:buChar char="•"/>
            </a:pPr>
            <a:r>
              <a:rPr lang="en-US" b="true" sz="2054">
                <a:solidFill>
                  <a:srgbClr val="00363C"/>
                </a:solidFill>
                <a:latin typeface="DM Sans Bold"/>
                <a:ea typeface="DM Sans Bold"/>
                <a:cs typeface="DM Sans Bold"/>
                <a:sym typeface="DM Sans Bold"/>
              </a:rPr>
              <a:t>Ingeniería en Informática | Sede Antonio Varas </a:t>
            </a:r>
          </a:p>
          <a:p>
            <a:pPr algn="l">
              <a:lnSpc>
                <a:spcPts val="3287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2756482" cy="677635"/>
          </a:xfrm>
          <a:custGeom>
            <a:avLst/>
            <a:gdLst/>
            <a:ahLst/>
            <a:cxnLst/>
            <a:rect r="r" b="b" t="t" l="l"/>
            <a:pathLst>
              <a:path h="677635" w="2756482">
                <a:moveTo>
                  <a:pt x="0" y="0"/>
                </a:moveTo>
                <a:lnTo>
                  <a:pt x="2756482" y="0"/>
                </a:lnTo>
                <a:lnTo>
                  <a:pt x="2756482" y="677635"/>
                </a:lnTo>
                <a:lnTo>
                  <a:pt x="0" y="677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F6F0E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cap="flat" w="114300">
            <a:solidFill>
              <a:srgbClr val="6599A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1054170"/>
            <a:ext cx="1003450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b="true" sz="3199" spc="31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INDICE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13445" y="3025775"/>
            <a:ext cx="13261110" cy="4073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877" indent="-345439" lvl="1">
              <a:lnSpc>
                <a:spcPts val="5439"/>
              </a:lnSpc>
              <a:buAutoNum type="arabicPeriod" startAt="1"/>
            </a:pPr>
            <a:r>
              <a:rPr lang="en-US" sz="3199" i="true">
                <a:solidFill>
                  <a:srgbClr val="00363C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Introducción a la fase</a:t>
            </a:r>
          </a:p>
          <a:p>
            <a:pPr algn="ctr" marL="690877" indent="-345439" lvl="1">
              <a:lnSpc>
                <a:spcPts val="5439"/>
              </a:lnSpc>
              <a:buAutoNum type="arabicPeriod" startAt="1"/>
            </a:pPr>
            <a:r>
              <a:rPr lang="en-US" sz="3199" i="true">
                <a:solidFill>
                  <a:srgbClr val="00363C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Principales Avances del proyecto</a:t>
            </a:r>
          </a:p>
          <a:p>
            <a:pPr algn="ctr" marL="690877" indent="-345439" lvl="1">
              <a:lnSpc>
                <a:spcPts val="5439"/>
              </a:lnSpc>
              <a:buAutoNum type="arabicPeriod" startAt="1"/>
            </a:pPr>
            <a:r>
              <a:rPr lang="en-US" sz="3199" i="true">
                <a:solidFill>
                  <a:srgbClr val="00363C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Cambios destacados</a:t>
            </a:r>
          </a:p>
          <a:p>
            <a:pPr algn="ctr" marL="690877" indent="-345439" lvl="1">
              <a:lnSpc>
                <a:spcPts val="5439"/>
              </a:lnSpc>
              <a:buAutoNum type="arabicPeriod" startAt="1"/>
            </a:pPr>
            <a:r>
              <a:rPr lang="en-US" sz="3199" i="true">
                <a:solidFill>
                  <a:srgbClr val="00363C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Mapa tecnológico (Diagrama de secuencia)</a:t>
            </a:r>
          </a:p>
          <a:p>
            <a:pPr algn="ctr" marL="690877" indent="-345439" lvl="1">
              <a:lnSpc>
                <a:spcPts val="5439"/>
              </a:lnSpc>
              <a:buAutoNum type="arabicPeriod" startAt="1"/>
            </a:pPr>
            <a:r>
              <a:rPr lang="en-US" sz="3199" i="true">
                <a:solidFill>
                  <a:srgbClr val="00363C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Demo</a:t>
            </a:r>
          </a:p>
          <a:p>
            <a:pPr algn="ctr" marL="690877" indent="-345439" lvl="1">
              <a:lnSpc>
                <a:spcPts val="5439"/>
              </a:lnSpc>
              <a:buAutoNum type="arabicPeriod" startAt="1"/>
            </a:pPr>
            <a:r>
              <a:rPr lang="en-US" sz="3199" i="true">
                <a:solidFill>
                  <a:srgbClr val="00363C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Pendientes y Conclusiones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502818" y="1028700"/>
            <a:ext cx="2756482" cy="677635"/>
          </a:xfrm>
          <a:custGeom>
            <a:avLst/>
            <a:gdLst/>
            <a:ahLst/>
            <a:cxnLst/>
            <a:rect r="r" b="b" t="t" l="l"/>
            <a:pathLst>
              <a:path h="677635" w="2756482">
                <a:moveTo>
                  <a:pt x="0" y="0"/>
                </a:moveTo>
                <a:lnTo>
                  <a:pt x="2756482" y="0"/>
                </a:lnTo>
                <a:lnTo>
                  <a:pt x="2756482" y="677635"/>
                </a:lnTo>
                <a:lnTo>
                  <a:pt x="0" y="677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F6F0E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cap="flat" w="114300">
            <a:solidFill>
              <a:srgbClr val="6599A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502818" y="1028700"/>
            <a:ext cx="2756482" cy="677635"/>
          </a:xfrm>
          <a:custGeom>
            <a:avLst/>
            <a:gdLst/>
            <a:ahLst/>
            <a:cxnLst/>
            <a:rect r="r" b="b" t="t" l="l"/>
            <a:pathLst>
              <a:path h="677635" w="2756482">
                <a:moveTo>
                  <a:pt x="0" y="0"/>
                </a:moveTo>
                <a:lnTo>
                  <a:pt x="2756482" y="0"/>
                </a:lnTo>
                <a:lnTo>
                  <a:pt x="2756482" y="677635"/>
                </a:lnTo>
                <a:lnTo>
                  <a:pt x="0" y="677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54170"/>
            <a:ext cx="1003450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true" sz="3199" spc="31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INTRODUCCIÓN A LA FASE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6410" y="2832335"/>
            <a:ext cx="14126860" cy="5960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8069" indent="-334034" lvl="1">
              <a:lnSpc>
                <a:spcPts val="4332"/>
              </a:lnSpc>
              <a:buFont typeface="Arial"/>
              <a:buChar char="•"/>
            </a:pPr>
            <a:r>
              <a:rPr lang="en-US" sz="3094" spc="-61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En esta fase del proyecto se darán a conocer los principales avances y modificaciones al proyecto “Movimap”.</a:t>
            </a:r>
          </a:p>
          <a:p>
            <a:pPr algn="l">
              <a:lnSpc>
                <a:spcPts val="4332"/>
              </a:lnSpc>
            </a:pPr>
          </a:p>
          <a:p>
            <a:pPr algn="l" marL="668069" indent="-334034" lvl="1">
              <a:lnSpc>
                <a:spcPts val="4332"/>
              </a:lnSpc>
              <a:buFont typeface="Arial"/>
              <a:buChar char="•"/>
            </a:pPr>
            <a:r>
              <a:rPr lang="en-US" sz="3094" spc="-61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Luego, se mostrará un mapa tecnológico para dar a conocer el mapa tecnológico de nuestra app web.</a:t>
            </a:r>
          </a:p>
          <a:p>
            <a:pPr algn="l">
              <a:lnSpc>
                <a:spcPts val="4332"/>
              </a:lnSpc>
            </a:pPr>
          </a:p>
          <a:p>
            <a:pPr algn="l" marL="668069" indent="-334034" lvl="1">
              <a:lnSpc>
                <a:spcPts val="4332"/>
              </a:lnSpc>
              <a:buFont typeface="Arial"/>
              <a:buChar char="•"/>
            </a:pPr>
            <a:r>
              <a:rPr lang="en-US" sz="3094" spc="-61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Finalmente, se llevará a cabo una demo mostrando el estado actual de la aplicación y sus funciones más destacadas.</a:t>
            </a:r>
          </a:p>
          <a:p>
            <a:pPr algn="l">
              <a:lnSpc>
                <a:spcPts val="4332"/>
              </a:lnSpc>
            </a:pPr>
          </a:p>
          <a:p>
            <a:pPr algn="l">
              <a:lnSpc>
                <a:spcPts val="4332"/>
              </a:lnSpc>
            </a:pPr>
          </a:p>
          <a:p>
            <a:pPr algn="l">
              <a:lnSpc>
                <a:spcPts val="4332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F6F0E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cap="flat" w="114300">
            <a:solidFill>
              <a:srgbClr val="6599A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502818" y="1028700"/>
            <a:ext cx="2756482" cy="677635"/>
          </a:xfrm>
          <a:custGeom>
            <a:avLst/>
            <a:gdLst/>
            <a:ahLst/>
            <a:cxnLst/>
            <a:rect r="r" b="b" t="t" l="l"/>
            <a:pathLst>
              <a:path h="677635" w="2756482">
                <a:moveTo>
                  <a:pt x="0" y="0"/>
                </a:moveTo>
                <a:lnTo>
                  <a:pt x="2756482" y="0"/>
                </a:lnTo>
                <a:lnTo>
                  <a:pt x="2756482" y="677635"/>
                </a:lnTo>
                <a:lnTo>
                  <a:pt x="0" y="677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80205"/>
            <a:ext cx="100345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 spc="29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PRINCIPALES AVANCES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4869" y="1883717"/>
            <a:ext cx="9839345" cy="866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-51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Plataforma geo-referenciada de reportes de accesibilidad urbana.</a:t>
            </a:r>
          </a:p>
          <a:p>
            <a:pPr algn="l">
              <a:lnSpc>
                <a:spcPts val="3639"/>
              </a:lnSpc>
            </a:pP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-51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Usuarios con registro, login y roles (RLS).</a:t>
            </a:r>
          </a:p>
          <a:p>
            <a:pPr algn="l">
              <a:lnSpc>
                <a:spcPts val="3639"/>
              </a:lnSpc>
            </a:pP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-51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Mapa interactivo con filtros y búsqueda de direcciones</a:t>
            </a:r>
          </a:p>
          <a:p>
            <a:pPr algn="l">
              <a:lnSpc>
                <a:spcPts val="3639"/>
              </a:lnSpc>
            </a:pP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-51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Reportes con foto, severidad y ubicación.</a:t>
            </a:r>
          </a:p>
          <a:p>
            <a:pPr algn="l">
              <a:lnSpc>
                <a:spcPts val="3639"/>
              </a:lnSpc>
            </a:pP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-51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Votación comunitaria con score automático.</a:t>
            </a:r>
          </a:p>
          <a:p>
            <a:pPr algn="l">
              <a:lnSpc>
                <a:spcPts val="3639"/>
              </a:lnSpc>
            </a:pP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-51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Panel admin (estados, denuncias y auditoría). *</a:t>
            </a:r>
          </a:p>
          <a:p>
            <a:pPr algn="l">
              <a:lnSpc>
                <a:spcPts val="3639"/>
              </a:lnSpc>
            </a:pP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-51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Datos exportables a Power BI vía conexión directa a BD.</a:t>
            </a:r>
          </a:p>
          <a:p>
            <a:pPr algn="l">
              <a:lnSpc>
                <a:spcPts val="3639"/>
              </a:lnSpc>
            </a:pP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-51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Deploy en Netlify + Scrum (GitHub Projects).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052910" y="2355518"/>
            <a:ext cx="4899817" cy="4848510"/>
          </a:xfrm>
          <a:custGeom>
            <a:avLst/>
            <a:gdLst/>
            <a:ahLst/>
            <a:cxnLst/>
            <a:rect r="r" b="b" t="t" l="l"/>
            <a:pathLst>
              <a:path h="4848510" w="4899817">
                <a:moveTo>
                  <a:pt x="0" y="0"/>
                </a:moveTo>
                <a:lnTo>
                  <a:pt x="4899817" y="0"/>
                </a:lnTo>
                <a:lnTo>
                  <a:pt x="4899817" y="4848510"/>
                </a:lnTo>
                <a:lnTo>
                  <a:pt x="0" y="48485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654" t="-18694" r="-24552" b="-33101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F6F0E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cap="flat" w="114300">
            <a:solidFill>
              <a:srgbClr val="6599A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502818" y="1028700"/>
            <a:ext cx="2756482" cy="677635"/>
          </a:xfrm>
          <a:custGeom>
            <a:avLst/>
            <a:gdLst/>
            <a:ahLst/>
            <a:cxnLst/>
            <a:rect r="r" b="b" t="t" l="l"/>
            <a:pathLst>
              <a:path h="677635" w="2756482">
                <a:moveTo>
                  <a:pt x="0" y="0"/>
                </a:moveTo>
                <a:lnTo>
                  <a:pt x="2756482" y="0"/>
                </a:lnTo>
                <a:lnTo>
                  <a:pt x="2756482" y="677635"/>
                </a:lnTo>
                <a:lnTo>
                  <a:pt x="0" y="677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221878" y="2457450"/>
          <a:ext cx="9841322" cy="6800850"/>
        </p:xfrm>
        <a:graphic>
          <a:graphicData uri="http://schemas.openxmlformats.org/drawingml/2006/table">
            <a:tbl>
              <a:tblPr/>
              <a:tblGrid>
                <a:gridCol w="5541025"/>
                <a:gridCol w="4300297"/>
              </a:tblGrid>
              <a:tr h="1136972">
                <a:tc gridSpan="2">
                  <a:txBody>
                    <a:bodyPr anchor="t" rtlCol="false"/>
                    <a:lstStyle/>
                    <a:p>
                      <a:pPr algn="ctr">
                        <a:lnSpc>
                          <a:spcPts val="253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1F1F1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Cambio de panel admin a panel consumible desde BD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B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3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1F1F1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Cambio de panel admin a panel consumible desde BD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B"/>
                    </a:solidFill>
                  </a:tcPr>
                </a:tc>
              </a:tr>
              <a:tr h="11369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F1F1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Enfoque Original (Módulo en App)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F1F1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Enfoque Actual (Capa de BI Externa)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B"/>
                    </a:solidFill>
                  </a:tcPr>
                </a:tc>
              </a:tr>
              <a:tr h="1136972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300"/>
                        </a:lnSpc>
                        <a:defRPr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Estadísticas embebidas en el panel admin.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300"/>
                        </a:lnSpc>
                        <a:defRPr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Capa analítica dedicada en Supabase (schema bi).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B"/>
                    </a:solidFill>
                  </a:tcPr>
                </a:tc>
              </a:tr>
              <a:tr h="829837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300"/>
                        </a:lnSpc>
                        <a:defRPr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Dashboards rígidos atados al desarrollo frontend.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300"/>
                        </a:lnSpc>
                        <a:defRPr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Rol seguro de solo lectura (bi_reader) y vistas vía PostgREST.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B"/>
                    </a:solidFill>
                  </a:tcPr>
                </a:tc>
              </a:tr>
              <a:tr h="1136972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300"/>
                        </a:lnSpc>
                        <a:defRPr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Sobrecarga de funciones operativas en la app.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300"/>
                        </a:lnSpc>
                        <a:defRPr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Enriquecimiento dimensional: geografía (comuna/barrio) y tiempo local (America/Santiago).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B"/>
                    </a:solidFill>
                  </a:tcPr>
                </a:tc>
              </a:tr>
              <a:tr h="1423123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300"/>
                        </a:lnSpc>
                        <a:defRPr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Mantenimiento costoso ante nuevas preguntas de negocio.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300"/>
                        </a:lnSpc>
                        <a:defRPr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Consumo directo e independiente desde Power BI u otras herramientas.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B"/>
                    </a:solidFill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false" flipV="false" rot="0">
            <a:off x="13002343" y="7026760"/>
            <a:ext cx="3000951" cy="2430771"/>
          </a:xfrm>
          <a:custGeom>
            <a:avLst/>
            <a:gdLst/>
            <a:ahLst/>
            <a:cxnLst/>
            <a:rect r="r" b="b" t="t" l="l"/>
            <a:pathLst>
              <a:path h="2430771" w="3000951">
                <a:moveTo>
                  <a:pt x="0" y="0"/>
                </a:moveTo>
                <a:lnTo>
                  <a:pt x="3000951" y="0"/>
                </a:lnTo>
                <a:lnTo>
                  <a:pt x="3000951" y="2430771"/>
                </a:lnTo>
                <a:lnTo>
                  <a:pt x="0" y="2430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80205"/>
            <a:ext cx="100345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 spc="29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CAMBIOS DESTACADOS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03425" y="2578955"/>
            <a:ext cx="5798786" cy="439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b="true" sz="1799" spc="17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BENEFICIOS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 spc="17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</a:p>
          <a:p>
            <a:pPr algn="just" marL="388618" indent="-194309" lvl="1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799" spc="17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Seguridad y Performance</a:t>
            </a:r>
            <a:r>
              <a:rPr lang="en-US" sz="1799" spc="179">
                <a:solidFill>
                  <a:srgbClr val="12100E"/>
                </a:solidFill>
                <a:latin typeface="DM Sans"/>
                <a:ea typeface="DM Sans"/>
                <a:cs typeface="DM Sans"/>
                <a:sym typeface="DM Sans"/>
              </a:rPr>
              <a:t>: El rol de solo lectura aísla las consultas pesadas de la operación diaria.</a:t>
            </a:r>
          </a:p>
          <a:p>
            <a:pPr algn="just">
              <a:lnSpc>
                <a:spcPts val="2519"/>
              </a:lnSpc>
              <a:spcBef>
                <a:spcPct val="0"/>
              </a:spcBef>
            </a:pPr>
          </a:p>
          <a:p>
            <a:pPr algn="just" marL="388618" indent="-194309" lvl="1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799" spc="17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Escalabilidad Analítica:</a:t>
            </a:r>
            <a:r>
              <a:rPr lang="en-US" sz="1799" spc="179">
                <a:solidFill>
                  <a:srgbClr val="12100E"/>
                </a:solidFill>
                <a:latin typeface="DM Sans"/>
                <a:ea typeface="DM Sans"/>
                <a:cs typeface="DM Sans"/>
                <a:sym typeface="DM Sans"/>
              </a:rPr>
              <a:t> Nuevos reportes y filtros se crean en Power BI sin tocar el código de la app.</a:t>
            </a:r>
          </a:p>
          <a:p>
            <a:pPr algn="just">
              <a:lnSpc>
                <a:spcPts val="2519"/>
              </a:lnSpc>
              <a:spcBef>
                <a:spcPct val="0"/>
              </a:spcBef>
            </a:pPr>
          </a:p>
          <a:p>
            <a:pPr algn="just" marL="388618" indent="-194309" lvl="1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799" spc="17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Gobierno de Datos:</a:t>
            </a:r>
            <a:r>
              <a:rPr lang="en-US" sz="1799" spc="179">
                <a:solidFill>
                  <a:srgbClr val="12100E"/>
                </a:solidFill>
                <a:latin typeface="DM Sans"/>
                <a:ea typeface="DM Sans"/>
                <a:cs typeface="DM Sans"/>
                <a:sym typeface="DM Sans"/>
              </a:rPr>
              <a:t> Dimensiones territoriales y temporales estandarizadas en una única fuente de verdad.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F6F0E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cap="flat" w="114300">
            <a:solidFill>
              <a:srgbClr val="6599A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502818" y="1028700"/>
            <a:ext cx="2756482" cy="677635"/>
          </a:xfrm>
          <a:custGeom>
            <a:avLst/>
            <a:gdLst/>
            <a:ahLst/>
            <a:cxnLst/>
            <a:rect r="r" b="b" t="t" l="l"/>
            <a:pathLst>
              <a:path h="677635" w="2756482">
                <a:moveTo>
                  <a:pt x="0" y="0"/>
                </a:moveTo>
                <a:lnTo>
                  <a:pt x="2756482" y="0"/>
                </a:lnTo>
                <a:lnTo>
                  <a:pt x="2756482" y="677635"/>
                </a:lnTo>
                <a:lnTo>
                  <a:pt x="0" y="677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30839" y="2620148"/>
            <a:ext cx="3477006" cy="4114800"/>
          </a:xfrm>
          <a:custGeom>
            <a:avLst/>
            <a:gdLst/>
            <a:ahLst/>
            <a:cxnLst/>
            <a:rect r="r" b="b" t="t" l="l"/>
            <a:pathLst>
              <a:path h="4114800" w="3477006">
                <a:moveTo>
                  <a:pt x="0" y="0"/>
                </a:moveTo>
                <a:lnTo>
                  <a:pt x="3477006" y="0"/>
                </a:lnTo>
                <a:lnTo>
                  <a:pt x="347700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80205"/>
            <a:ext cx="100345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 spc="29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CAMBIOS DESTACADOS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01866"/>
            <a:ext cx="8865550" cy="774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19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OTROS CAMBIOS DESTACADOS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</a:p>
          <a:p>
            <a:pPr algn="l" marL="431797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99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SCORE CALCULADO POR VISTAS A PARTIR DE LOS VOTOS (EN VEZ DE GUARDADO)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 marL="431797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99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ELIMINACIÓN DEL ROL INSTITUTION Y COLUMNAS DUPLICADAS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 marL="431797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99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RLS RESPETADO (SIN SECURITY DEFINER EN ACCIONES DE USUARIO)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 marL="431797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99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PÁGINA PROPIA /INCIDENT/:ID (REEMPLAZA AL MODAL DE DETALLE)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 marL="431797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99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SISTEMA DE DISEÑO CON TOKENS, INTER Y LAYOUT 3 COLUMNAS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 marL="431797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99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BACKLOG EN GITHUB PROJECTS (FUENTE OFICIAL)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 marL="431797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99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EXPORTACIÓN BI SEGURA (ROL BI_READER + VISTAS ESPEJO EN PUBLIC)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 marL="431797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99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DIMENSIONES GEOGRÁFICAS Y TEMPORALES PARA EL ANÁLISIS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  <a:p>
            <a:pPr algn="ctr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F6F0E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cap="flat" w="114300">
            <a:solidFill>
              <a:srgbClr val="6599A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502818" y="1028700"/>
            <a:ext cx="2756482" cy="677635"/>
          </a:xfrm>
          <a:custGeom>
            <a:avLst/>
            <a:gdLst/>
            <a:ahLst/>
            <a:cxnLst/>
            <a:rect r="r" b="b" t="t" l="l"/>
            <a:pathLst>
              <a:path h="677635" w="2756482">
                <a:moveTo>
                  <a:pt x="0" y="0"/>
                </a:moveTo>
                <a:lnTo>
                  <a:pt x="2756482" y="0"/>
                </a:lnTo>
                <a:lnTo>
                  <a:pt x="2756482" y="677635"/>
                </a:lnTo>
                <a:lnTo>
                  <a:pt x="0" y="677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397618"/>
            <a:ext cx="15675185" cy="7119947"/>
          </a:xfrm>
          <a:custGeom>
            <a:avLst/>
            <a:gdLst/>
            <a:ahLst/>
            <a:cxnLst/>
            <a:rect r="r" b="b" t="t" l="l"/>
            <a:pathLst>
              <a:path h="7119947" w="15675185">
                <a:moveTo>
                  <a:pt x="0" y="0"/>
                </a:moveTo>
                <a:lnTo>
                  <a:pt x="15675185" y="0"/>
                </a:lnTo>
                <a:lnTo>
                  <a:pt x="15675185" y="7119948"/>
                </a:lnTo>
                <a:lnTo>
                  <a:pt x="0" y="7119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80205"/>
            <a:ext cx="11433897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 spc="29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MAPA TECNOLÓGICO (DIAGRAMA DE SECUENCIA)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F6F0E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cap="flat" w="114300">
            <a:solidFill>
              <a:srgbClr val="6599A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502818" y="1028700"/>
            <a:ext cx="2756482" cy="677635"/>
          </a:xfrm>
          <a:custGeom>
            <a:avLst/>
            <a:gdLst/>
            <a:ahLst/>
            <a:cxnLst/>
            <a:rect r="r" b="b" t="t" l="l"/>
            <a:pathLst>
              <a:path h="677635" w="2756482">
                <a:moveTo>
                  <a:pt x="0" y="0"/>
                </a:moveTo>
                <a:lnTo>
                  <a:pt x="2756482" y="0"/>
                </a:lnTo>
                <a:lnTo>
                  <a:pt x="2756482" y="677635"/>
                </a:lnTo>
                <a:lnTo>
                  <a:pt x="0" y="677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>
            <a:hlinkClick r:id="rId4" tooltip="https://movimap-duoc.netlify.app"/>
          </p:cNvPr>
          <p:cNvSpPr/>
          <p:nvPr/>
        </p:nvSpPr>
        <p:spPr>
          <a:xfrm flipH="false" flipV="false" rot="0">
            <a:off x="10981242" y="2965893"/>
            <a:ext cx="4899817" cy="4848510"/>
          </a:xfrm>
          <a:custGeom>
            <a:avLst/>
            <a:gdLst/>
            <a:ahLst/>
            <a:cxnLst/>
            <a:rect r="r" b="b" t="t" l="l"/>
            <a:pathLst>
              <a:path h="4848510" w="4899817">
                <a:moveTo>
                  <a:pt x="0" y="0"/>
                </a:moveTo>
                <a:lnTo>
                  <a:pt x="4899817" y="0"/>
                </a:lnTo>
                <a:lnTo>
                  <a:pt x="4899817" y="4848510"/>
                </a:lnTo>
                <a:lnTo>
                  <a:pt x="0" y="48485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654" t="-18694" r="-24552" b="-3310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94671" y="4591962"/>
            <a:ext cx="7702557" cy="1596372"/>
          </a:xfrm>
          <a:custGeom>
            <a:avLst/>
            <a:gdLst/>
            <a:ahLst/>
            <a:cxnLst/>
            <a:rect r="r" b="b" t="t" l="l"/>
            <a:pathLst>
              <a:path h="1596372" w="7702557">
                <a:moveTo>
                  <a:pt x="0" y="0"/>
                </a:moveTo>
                <a:lnTo>
                  <a:pt x="7702557" y="0"/>
                </a:lnTo>
                <a:lnTo>
                  <a:pt x="7702557" y="1596372"/>
                </a:lnTo>
                <a:lnTo>
                  <a:pt x="0" y="15963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84627" r="-44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09650" y="1080205"/>
            <a:ext cx="100345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 spc="29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DEMO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F6F0E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cap="flat" w="114300">
            <a:solidFill>
              <a:srgbClr val="6599A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502818" y="1028700"/>
            <a:ext cx="2756482" cy="677635"/>
          </a:xfrm>
          <a:custGeom>
            <a:avLst/>
            <a:gdLst/>
            <a:ahLst/>
            <a:cxnLst/>
            <a:rect r="r" b="b" t="t" l="l"/>
            <a:pathLst>
              <a:path h="677635" w="2756482">
                <a:moveTo>
                  <a:pt x="0" y="0"/>
                </a:moveTo>
                <a:lnTo>
                  <a:pt x="2756482" y="0"/>
                </a:lnTo>
                <a:lnTo>
                  <a:pt x="2756482" y="677635"/>
                </a:lnTo>
                <a:lnTo>
                  <a:pt x="0" y="677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80205"/>
            <a:ext cx="11433897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 spc="29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PENDIENTES Y CONCLUSIONES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8571" y="2773044"/>
            <a:ext cx="15310559" cy="626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pc="299">
                <a:solidFill>
                  <a:srgbClr val="12100E"/>
                </a:solidFill>
                <a:latin typeface="DM Sans"/>
                <a:ea typeface="DM Sans"/>
                <a:cs typeface="DM Sans"/>
                <a:sym typeface="DM Sans"/>
              </a:rPr>
              <a:t>Movimap cuenta con el flujo principal </a:t>
            </a:r>
            <a:r>
              <a:rPr lang="en-US" b="true" sz="2999" spc="29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completamente operativo</a:t>
            </a:r>
            <a:r>
              <a:rPr lang="en-US" sz="2999" spc="299">
                <a:solidFill>
                  <a:srgbClr val="12100E"/>
                </a:solidFill>
                <a:latin typeface="DM Sans"/>
                <a:ea typeface="DM Sans"/>
                <a:cs typeface="DM Sans"/>
                <a:sym typeface="DM Sans"/>
              </a:rPr>
              <a:t>: registro y </a:t>
            </a:r>
            <a:r>
              <a:rPr lang="en-US" sz="2999" spc="299">
                <a:solidFill>
                  <a:srgbClr val="12100E"/>
                </a:solidFill>
                <a:latin typeface="DM Sans"/>
                <a:ea typeface="DM Sans"/>
                <a:cs typeface="DM Sans"/>
                <a:sym typeface="DM Sans"/>
              </a:rPr>
              <a:t>login de usuarios, mapa interactivo con reportes geo-referenciados, votación comunitaria con score automático y panel de administración, junto a una capa BI que permite consumir los datos directamente desde la base de datos (Power BI). Puede considerarse una plataforma usable y desplegada en Netlify.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  <a:p>
            <a:pPr algn="just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pc="299">
                <a:solidFill>
                  <a:srgbClr val="12100E"/>
                </a:solidFill>
                <a:latin typeface="DM Sans"/>
                <a:ea typeface="DM Sans"/>
                <a:cs typeface="DM Sans"/>
                <a:sym typeface="DM Sans"/>
              </a:rPr>
              <a:t>Quedaron pendientes el plan de pruebas y el manual de despliegue, además de tareas de optimización (alta carga de reportes, modo oscuro, exportación CSV). Estos son los últimos pasos para cerrar la validación del proyecto.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F6F0E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DAHX7Xg11JY</dc:identifier>
  <dcterms:modified xsi:type="dcterms:W3CDTF">2011-08-01T06:04:30Z</dcterms:modified>
  <cp:revision>1</cp:revision>
  <dc:title>Presentación Proyecto.pptx</dc:title>
</cp:coreProperties>
</file>